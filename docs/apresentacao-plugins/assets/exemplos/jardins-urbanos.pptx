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a ideia de estudar o lugar antes de desenhar uma intervenção. O jardim é pensado como um espaço compartilhado, com decisões e responsabilidades discutidas pelo grupo. A imagem é uma ilustração gerada de um jardim fictício.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as três perguntas para organizar uma visita ao local e uma conversa com seus usuários. Registre as condições observadas, as necessidades de acesso e quem poderá participar do cuidado. A imagem é uma ilustração gerada de um jardim fictício em vista elevada.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sequência organiza a discussão do projeto: primeiro observar e ouvir; depois comparar alternativas; por fim testar um recorte e revisar. Os números identificam etapas. Mantenha um registro das hipóteses, dos critérios e do que mudou após cada conversa.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Open Library, consulta urban gardens em 18/10/2026. City gardening; Deirdre Colby; 1987; https://openlibrary.org/works/OL15825666W | Urban Gardens; Ann-Marie Powell; 2005; https://openlibrary.org/works/OL9028256W. Os anos correspondem ao campo first_publish_year. São metadados de catálogo: o conteúdo das obras ainda precisa ser lido antes de fundamentar uma conclusão.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Convide o grupo a escolher um lugar e um objetivo inicial. Distribua a leitura das referências, registre as fontes utilizadas e desenhe um primeiro recorte para discussão. Defina quem revisará a proposta e como as decisões serão documentadas.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09600" y="581025"/>
            <a:ext cx="361950" cy="38100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1133475" y="4953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PAISAGEM  /  PESQUISA  /  CUIDADO</a:t>
            </a:r>
            <a:endParaRPr lang="en-US" sz="1350" dirty="0"/>
          </a:p>
        </p:txBody>
      </p:sp>
      <p:sp>
        <p:nvSpPr>
          <p:cNvPr id="5" name="Shape 2"/>
          <p:cNvSpPr/>
          <p:nvPr/>
        </p:nvSpPr>
        <p:spPr>
          <a:xfrm>
            <a:off x="609600" y="6153150"/>
            <a:ext cx="10972800" cy="9525"/>
          </a:xfrm>
          <a:prstGeom prst="rect">
            <a:avLst/>
          </a:prstGeom>
          <a:solidFill>
            <a:srgbClr val="273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09600" y="6372225"/>
            <a:ext cx="952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JARDINS URBANOS  /  ESTUDO DE PROJETO</a:t>
            </a:r>
            <a:endParaRPr lang="en-US" sz="1125" dirty="0"/>
          </a:p>
        </p:txBody>
      </p:sp>
      <p:sp>
        <p:nvSpPr>
          <p:cNvPr id="7" name="Text 4"/>
          <p:cNvSpPr/>
          <p:nvPr/>
        </p:nvSpPr>
        <p:spPr>
          <a:xfrm>
            <a:off x="10668000" y="6353175"/>
            <a:ext cx="9144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 / 05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10200" y="1504950"/>
            <a:ext cx="6172200" cy="3476625"/>
          </a:xfrm>
          <a:prstGeom prst="rect">
            <a:avLst/>
          </a:prstGeom>
          <a:solidFill>
            <a:srgbClr val="0F152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0200" y="1506408"/>
            <a:ext cx="6172200" cy="34737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10200" y="5000625"/>
            <a:ext cx="1562100" cy="38100"/>
          </a:xfrm>
          <a:prstGeom prst="rect">
            <a:avLst/>
          </a:prstGeom>
          <a:solidFill>
            <a:srgbClr val="7B61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09600" y="1362075"/>
            <a:ext cx="4524375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Jardins</a:t>
            </a:r>
            <a:endParaRPr lang="en-US" sz="5400" dirty="0"/>
          </a:p>
          <a:p>
            <a:pPr algn="l" indent="0" marL="0">
              <a:buNone/>
            </a:pPr>
            <a:r>
              <a:rPr lang="en-US" sz="5400" b="1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urbanos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638175" y="3343275"/>
            <a:ext cx="44767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 pesquisa ao projeto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 um espaço compartilhado.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5410200" y="5210175"/>
            <a:ext cx="6172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Ilustração gerada · jardim fictício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8650" y="4924425"/>
            <a:ext cx="438150" cy="28575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28650" y="5181600"/>
            <a:ext cx="4381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0D4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 PROJETO DE CUIDADO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09600" y="581025"/>
            <a:ext cx="361950" cy="38100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1133475" y="4953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  /  LER O CONTEXTO</a:t>
            </a:r>
            <a:endParaRPr lang="en-US" sz="1350" dirty="0"/>
          </a:p>
        </p:txBody>
      </p:sp>
      <p:sp>
        <p:nvSpPr>
          <p:cNvPr id="5" name="Shape 2"/>
          <p:cNvSpPr/>
          <p:nvPr/>
        </p:nvSpPr>
        <p:spPr>
          <a:xfrm>
            <a:off x="609600" y="6153150"/>
            <a:ext cx="10972800" cy="9525"/>
          </a:xfrm>
          <a:prstGeom prst="rect">
            <a:avLst/>
          </a:prstGeom>
          <a:solidFill>
            <a:srgbClr val="273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09600" y="6372225"/>
            <a:ext cx="952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JARDINS URBANOS  /  ESTUDO DE PROJETO</a:t>
            </a:r>
            <a:endParaRPr lang="en-US" sz="1125" dirty="0"/>
          </a:p>
        </p:txBody>
      </p:sp>
      <p:sp>
        <p:nvSpPr>
          <p:cNvPr id="7" name="Text 4"/>
          <p:cNvSpPr/>
          <p:nvPr/>
        </p:nvSpPr>
        <p:spPr>
          <a:xfrm>
            <a:off x="10668000" y="6353175"/>
            <a:ext cx="9144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 / 05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09600" y="1162050"/>
            <a:ext cx="5905500" cy="1438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Leitura do lugar</a:t>
            </a:r>
            <a:endParaRPr lang="en-US" sz="45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0862" y="3086100"/>
            <a:ext cx="5102876" cy="20764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09600" y="5324475"/>
            <a:ext cx="5429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Ilustração gerada · jardim fictício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19850" y="1314450"/>
            <a:ext cx="9525" cy="4000500"/>
          </a:xfrm>
          <a:prstGeom prst="rect">
            <a:avLst/>
          </a:prstGeom>
          <a:solidFill>
            <a:srgbClr val="273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800850" y="1362075"/>
            <a:ext cx="457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0D4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410450" y="1323975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Condições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7410450" y="1800225"/>
            <a:ext cx="40957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7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Como variam a luz, a água</a:t>
            </a:r>
            <a:endParaRPr lang="en-US" sz="1875" dirty="0"/>
          </a:p>
          <a:p>
            <a:pPr algn="l" indent="0" marL="0">
              <a:buNone/>
            </a:pPr>
            <a:r>
              <a:rPr lang="en-US" sz="187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a sombra?</a:t>
            </a:r>
            <a:endParaRPr lang="en-US" sz="1875" dirty="0"/>
          </a:p>
        </p:txBody>
      </p:sp>
      <p:sp>
        <p:nvSpPr>
          <p:cNvPr id="15" name="Text 11"/>
          <p:cNvSpPr/>
          <p:nvPr/>
        </p:nvSpPr>
        <p:spPr>
          <a:xfrm>
            <a:off x="6800850" y="2838450"/>
            <a:ext cx="457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0D4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410450" y="28003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Usos</a:t>
            </a:r>
            <a:endParaRPr lang="en-US" sz="2100" dirty="0"/>
          </a:p>
        </p:txBody>
      </p:sp>
      <p:sp>
        <p:nvSpPr>
          <p:cNvPr id="17" name="Text 13"/>
          <p:cNvSpPr/>
          <p:nvPr/>
        </p:nvSpPr>
        <p:spPr>
          <a:xfrm>
            <a:off x="7410450" y="3276600"/>
            <a:ext cx="40957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7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Quem circula, permanece</a:t>
            </a:r>
            <a:endParaRPr lang="en-US" sz="1875" dirty="0"/>
          </a:p>
          <a:p>
            <a:pPr algn="l" indent="0" marL="0">
              <a:buNone/>
            </a:pPr>
            <a:r>
              <a:rPr lang="en-US" sz="187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precisa acessar o espaço?</a:t>
            </a:r>
            <a:endParaRPr lang="en-US" sz="1875" dirty="0"/>
          </a:p>
        </p:txBody>
      </p:sp>
      <p:sp>
        <p:nvSpPr>
          <p:cNvPr id="18" name="Text 14"/>
          <p:cNvSpPr/>
          <p:nvPr/>
        </p:nvSpPr>
        <p:spPr>
          <a:xfrm>
            <a:off x="6800850" y="4314825"/>
            <a:ext cx="457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0D4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7410450" y="4276725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Responsáveis</a:t>
            </a:r>
            <a:endParaRPr lang="en-US" sz="2100" dirty="0"/>
          </a:p>
        </p:txBody>
      </p:sp>
      <p:sp>
        <p:nvSpPr>
          <p:cNvPr id="20" name="Text 16"/>
          <p:cNvSpPr/>
          <p:nvPr/>
        </p:nvSpPr>
        <p:spPr>
          <a:xfrm>
            <a:off x="7410450" y="4752975"/>
            <a:ext cx="40957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7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Quem decide, cultiva</a:t>
            </a:r>
            <a:endParaRPr lang="en-US" sz="1875" dirty="0"/>
          </a:p>
          <a:p>
            <a:pPr algn="l" indent="0" marL="0">
              <a:buNone/>
            </a:pPr>
            <a:r>
              <a:rPr lang="en-US" sz="187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mantém ao longo do tempo?</a:t>
            </a:r>
            <a:endParaRPr lang="en-US" sz="1875" dirty="0"/>
          </a:p>
        </p:txBody>
      </p:sp>
      <p:sp>
        <p:nvSpPr>
          <p:cNvPr id="21" name="Text 17"/>
          <p:cNvSpPr/>
          <p:nvPr/>
        </p:nvSpPr>
        <p:spPr>
          <a:xfrm>
            <a:off x="609600" y="5743575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25" dirty="0">
                <a:solidFill>
                  <a:srgbClr val="00D4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desenho começa por perguntas verificáveis.</a:t>
            </a:r>
            <a:endParaRPr lang="en-US" sz="17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09600" y="581025"/>
            <a:ext cx="361950" cy="38100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1133475" y="4953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  /  TRANSFORMAR PESQUISA EM DECISÕES</a:t>
            </a:r>
            <a:endParaRPr lang="en-US" sz="1350" dirty="0"/>
          </a:p>
        </p:txBody>
      </p:sp>
      <p:sp>
        <p:nvSpPr>
          <p:cNvPr id="5" name="Shape 2"/>
          <p:cNvSpPr/>
          <p:nvPr/>
        </p:nvSpPr>
        <p:spPr>
          <a:xfrm>
            <a:off x="609600" y="6153150"/>
            <a:ext cx="10972800" cy="9525"/>
          </a:xfrm>
          <a:prstGeom prst="rect">
            <a:avLst/>
          </a:prstGeom>
          <a:solidFill>
            <a:srgbClr val="273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09600" y="6372225"/>
            <a:ext cx="952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JARDINS URBANOS  /  ESTUDO DE PROJETO</a:t>
            </a:r>
            <a:endParaRPr lang="en-US" sz="1125" dirty="0"/>
          </a:p>
        </p:txBody>
      </p:sp>
      <p:sp>
        <p:nvSpPr>
          <p:cNvPr id="7" name="Text 4"/>
          <p:cNvSpPr/>
          <p:nvPr/>
        </p:nvSpPr>
        <p:spPr>
          <a:xfrm>
            <a:off x="10668000" y="6353175"/>
            <a:ext cx="9144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 / 05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09600" y="1181100"/>
            <a:ext cx="109728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 ideia ao cuidado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638175" y="2219325"/>
            <a:ext cx="10763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2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Uma sequência de decisões — e um registro do que foi aprendido.</a:t>
            </a:r>
            <a:endParaRPr lang="en-US" sz="2025" dirty="0"/>
          </a:p>
        </p:txBody>
      </p:sp>
      <p:sp>
        <p:nvSpPr>
          <p:cNvPr id="10" name="Shape 7"/>
          <p:cNvSpPr/>
          <p:nvPr/>
        </p:nvSpPr>
        <p:spPr>
          <a:xfrm>
            <a:off x="1628775" y="3371850"/>
            <a:ext cx="2762250" cy="19050"/>
          </a:xfrm>
          <a:prstGeom prst="rect">
            <a:avLst/>
          </a:prstGeom>
          <a:solidFill>
            <a:srgbClr val="273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305425" y="3371850"/>
            <a:ext cx="2762250" cy="19050"/>
          </a:xfrm>
          <a:prstGeom prst="rect">
            <a:avLst/>
          </a:prstGeom>
          <a:solidFill>
            <a:srgbClr val="273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9600" y="3000375"/>
            <a:ext cx="104775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950" b="1" dirty="0">
                <a:solidFill>
                  <a:srgbClr val="00D4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</a:t>
            </a:r>
            <a:endParaRPr lang="en-US" sz="4950" dirty="0"/>
          </a:p>
        </p:txBody>
      </p:sp>
      <p:sp>
        <p:nvSpPr>
          <p:cNvPr id="13" name="Text 10"/>
          <p:cNvSpPr/>
          <p:nvPr/>
        </p:nvSpPr>
        <p:spPr>
          <a:xfrm>
            <a:off x="4286250" y="3000375"/>
            <a:ext cx="104775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950" b="1" dirty="0">
                <a:solidFill>
                  <a:srgbClr val="7B61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</a:t>
            </a:r>
            <a:endParaRPr lang="en-US" sz="4950" dirty="0"/>
          </a:p>
        </p:txBody>
      </p:sp>
      <p:sp>
        <p:nvSpPr>
          <p:cNvPr id="14" name="Text 11"/>
          <p:cNvSpPr/>
          <p:nvPr/>
        </p:nvSpPr>
        <p:spPr>
          <a:xfrm>
            <a:off x="7962900" y="3000375"/>
            <a:ext cx="104775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950" b="1" dirty="0">
                <a:solidFill>
                  <a:srgbClr val="00D4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</a:t>
            </a:r>
            <a:endParaRPr lang="en-US" sz="4950" dirty="0"/>
          </a:p>
        </p:txBody>
      </p:sp>
      <p:sp>
        <p:nvSpPr>
          <p:cNvPr id="15" name="Text 12"/>
          <p:cNvSpPr/>
          <p:nvPr/>
        </p:nvSpPr>
        <p:spPr>
          <a:xfrm>
            <a:off x="609600" y="4029075"/>
            <a:ext cx="3238500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Observar e ouvir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609600" y="4619625"/>
            <a:ext cx="328612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7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Percorrer o lugar.</a:t>
            </a:r>
            <a:endParaRPr lang="en-US" sz="1875" dirty="0"/>
          </a:p>
          <a:p>
            <a:pPr algn="l" indent="0" marL="0">
              <a:buNone/>
            </a:pPr>
            <a:r>
              <a:rPr lang="en-US" sz="187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Registrar usos e perguntas.</a:t>
            </a:r>
            <a:endParaRPr lang="en-US" sz="1875" dirty="0"/>
          </a:p>
          <a:p>
            <a:pPr algn="l" indent="0" marL="0">
              <a:buNone/>
            </a:pPr>
            <a:r>
              <a:rPr lang="en-US" sz="187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Escutar quem participa.</a:t>
            </a:r>
            <a:endParaRPr lang="en-US" sz="1875" dirty="0"/>
          </a:p>
        </p:txBody>
      </p:sp>
      <p:sp>
        <p:nvSpPr>
          <p:cNvPr id="17" name="Text 14"/>
          <p:cNvSpPr/>
          <p:nvPr/>
        </p:nvSpPr>
        <p:spPr>
          <a:xfrm>
            <a:off x="4286250" y="4029075"/>
            <a:ext cx="3352800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Desenhar e comparar</a:t>
            </a:r>
            <a:endParaRPr lang="en-US" sz="2250" dirty="0"/>
          </a:p>
        </p:txBody>
      </p:sp>
      <p:sp>
        <p:nvSpPr>
          <p:cNvPr id="18" name="Text 15"/>
          <p:cNvSpPr/>
          <p:nvPr/>
        </p:nvSpPr>
        <p:spPr>
          <a:xfrm>
            <a:off x="4286250" y="4619625"/>
            <a:ext cx="328612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7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Esboçar alternativas.</a:t>
            </a:r>
            <a:endParaRPr lang="en-US" sz="1875" dirty="0"/>
          </a:p>
          <a:p>
            <a:pPr algn="l" indent="0" marL="0">
              <a:buNone/>
            </a:pPr>
            <a:r>
              <a:rPr lang="en-US" sz="187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Tornar critérios visíveis.</a:t>
            </a:r>
            <a:endParaRPr lang="en-US" sz="1875" dirty="0"/>
          </a:p>
          <a:p>
            <a:pPr algn="l" indent="0" marL="0">
              <a:buNone/>
            </a:pPr>
            <a:r>
              <a:rPr lang="en-US" sz="187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Anotar limites e dúvidas.</a:t>
            </a:r>
            <a:endParaRPr lang="en-US" sz="1875" dirty="0"/>
          </a:p>
        </p:txBody>
      </p:sp>
      <p:sp>
        <p:nvSpPr>
          <p:cNvPr id="19" name="Text 16"/>
          <p:cNvSpPr/>
          <p:nvPr/>
        </p:nvSpPr>
        <p:spPr>
          <a:xfrm>
            <a:off x="7962900" y="4029075"/>
            <a:ext cx="3476625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Testar e revisar</a:t>
            </a:r>
            <a:endParaRPr lang="en-US" sz="2250" dirty="0"/>
          </a:p>
        </p:txBody>
      </p:sp>
      <p:sp>
        <p:nvSpPr>
          <p:cNvPr id="20" name="Text 17"/>
          <p:cNvSpPr/>
          <p:nvPr/>
        </p:nvSpPr>
        <p:spPr>
          <a:xfrm>
            <a:off x="7962900" y="4619625"/>
            <a:ext cx="3619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7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Começar por um recorte.</a:t>
            </a:r>
            <a:endParaRPr lang="en-US" sz="1875" dirty="0"/>
          </a:p>
          <a:p>
            <a:pPr algn="l" indent="0" marL="0">
              <a:buNone/>
            </a:pPr>
            <a:r>
              <a:rPr lang="en-US" sz="187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Combinar responsabilidades.</a:t>
            </a:r>
            <a:endParaRPr lang="en-US" sz="1875" dirty="0"/>
          </a:p>
          <a:p>
            <a:pPr algn="l" indent="0" marL="0">
              <a:buNone/>
            </a:pPr>
            <a:r>
              <a:rPr lang="en-US" sz="187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Rever o plano com o grupo.</a:t>
            </a:r>
            <a:endParaRPr lang="en-US" sz="187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09600" y="581025"/>
            <a:ext cx="361950" cy="38100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1133475" y="4953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  /  REPERTÓRIO COM RASTREABILIDADE</a:t>
            </a:r>
            <a:endParaRPr lang="en-US" sz="1350" dirty="0"/>
          </a:p>
        </p:txBody>
      </p:sp>
      <p:sp>
        <p:nvSpPr>
          <p:cNvPr id="5" name="Shape 2"/>
          <p:cNvSpPr/>
          <p:nvPr/>
        </p:nvSpPr>
        <p:spPr>
          <a:xfrm>
            <a:off x="609600" y="6153150"/>
            <a:ext cx="10972800" cy="9525"/>
          </a:xfrm>
          <a:prstGeom prst="rect">
            <a:avLst/>
          </a:prstGeom>
          <a:solidFill>
            <a:srgbClr val="273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09600" y="6372225"/>
            <a:ext cx="952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JARDINS URBANOS  /  ESTUDO DE PROJETO</a:t>
            </a:r>
            <a:endParaRPr lang="en-US" sz="1125" dirty="0"/>
          </a:p>
        </p:txBody>
      </p:sp>
      <p:sp>
        <p:nvSpPr>
          <p:cNvPr id="7" name="Text 4"/>
          <p:cNvSpPr/>
          <p:nvPr/>
        </p:nvSpPr>
        <p:spPr>
          <a:xfrm>
            <a:off x="10668000" y="6353175"/>
            <a:ext cx="9144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 / 05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09600" y="1143000"/>
            <a:ext cx="10972800" cy="1438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25" b="1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Referências bibliográficas</a:t>
            </a:r>
            <a:endParaRPr lang="en-US" sz="4425" dirty="0"/>
          </a:p>
        </p:txBody>
      </p:sp>
      <p:sp>
        <p:nvSpPr>
          <p:cNvPr id="9" name="Shape 6"/>
          <p:cNvSpPr/>
          <p:nvPr/>
        </p:nvSpPr>
        <p:spPr>
          <a:xfrm>
            <a:off x="6076950" y="3000375"/>
            <a:ext cx="9525" cy="2276475"/>
          </a:xfrm>
          <a:prstGeom prst="rect">
            <a:avLst/>
          </a:prstGeom>
          <a:solidFill>
            <a:srgbClr val="273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09600" y="3028950"/>
            <a:ext cx="495300" cy="38100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667500" y="3028950"/>
            <a:ext cx="495300" cy="38100"/>
          </a:xfrm>
          <a:prstGeom prst="rect">
            <a:avLst/>
          </a:prstGeom>
          <a:solidFill>
            <a:srgbClr val="7B61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9600" y="3333750"/>
            <a:ext cx="4953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City gardening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609600" y="4095750"/>
            <a:ext cx="5048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2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Deirdre Colby</a:t>
            </a:r>
            <a:endParaRPr lang="en-US" sz="2025" dirty="0"/>
          </a:p>
        </p:txBody>
      </p:sp>
      <p:sp>
        <p:nvSpPr>
          <p:cNvPr id="14" name="Text 11"/>
          <p:cNvSpPr/>
          <p:nvPr/>
        </p:nvSpPr>
        <p:spPr>
          <a:xfrm>
            <a:off x="609600" y="4591050"/>
            <a:ext cx="5048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Primeira publicação: 1987</a:t>
            </a:r>
            <a:endParaRPr lang="en-US" sz="1575" dirty="0"/>
          </a:p>
        </p:txBody>
      </p:sp>
      <p:sp>
        <p:nvSpPr>
          <p:cNvPr id="15" name="Text 12"/>
          <p:cNvSpPr/>
          <p:nvPr/>
        </p:nvSpPr>
        <p:spPr>
          <a:xfrm>
            <a:off x="609600" y="5086350"/>
            <a:ext cx="5048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0D4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openlibrary.org/works/OL15825666W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667500" y="3333750"/>
            <a:ext cx="49149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Urban Gardens</a:t>
            </a:r>
            <a:endParaRPr lang="en-US" sz="2700" dirty="0"/>
          </a:p>
        </p:txBody>
      </p:sp>
      <p:sp>
        <p:nvSpPr>
          <p:cNvPr id="17" name="Text 14"/>
          <p:cNvSpPr/>
          <p:nvPr/>
        </p:nvSpPr>
        <p:spPr>
          <a:xfrm>
            <a:off x="6667500" y="4095750"/>
            <a:ext cx="4914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2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Ann-Marie Powell</a:t>
            </a:r>
            <a:endParaRPr lang="en-US" sz="2025" dirty="0"/>
          </a:p>
        </p:txBody>
      </p:sp>
      <p:sp>
        <p:nvSpPr>
          <p:cNvPr id="18" name="Text 15"/>
          <p:cNvSpPr/>
          <p:nvPr/>
        </p:nvSpPr>
        <p:spPr>
          <a:xfrm>
            <a:off x="6667500" y="4591050"/>
            <a:ext cx="4914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Primeira publicação: 2005</a:t>
            </a:r>
            <a:endParaRPr lang="en-US" sz="1575" dirty="0"/>
          </a:p>
        </p:txBody>
      </p:sp>
      <p:sp>
        <p:nvSpPr>
          <p:cNvPr id="19" name="Text 16"/>
          <p:cNvSpPr/>
          <p:nvPr/>
        </p:nvSpPr>
        <p:spPr>
          <a:xfrm>
            <a:off x="6667500" y="5086350"/>
            <a:ext cx="4914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0D4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openlibrary.org/works/OL9028256W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09600" y="573405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7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Metadados do Open Library. O conteúdo das obras ainda precisa ser lido.</a:t>
            </a:r>
            <a:endParaRPr lang="en-US" sz="157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09600" y="581025"/>
            <a:ext cx="361950" cy="38100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1133475" y="4953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PRÓXIMO PASSO  /  DO REPERTÓRIO À PROPOSTA</a:t>
            </a:r>
            <a:endParaRPr lang="en-US" sz="1350" dirty="0"/>
          </a:p>
        </p:txBody>
      </p:sp>
      <p:sp>
        <p:nvSpPr>
          <p:cNvPr id="5" name="Shape 2"/>
          <p:cNvSpPr/>
          <p:nvPr/>
        </p:nvSpPr>
        <p:spPr>
          <a:xfrm>
            <a:off x="609600" y="6153150"/>
            <a:ext cx="10972800" cy="9525"/>
          </a:xfrm>
          <a:prstGeom prst="rect">
            <a:avLst/>
          </a:prstGeom>
          <a:solidFill>
            <a:srgbClr val="273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09600" y="6372225"/>
            <a:ext cx="952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JARDINS URBANOS  /  ESTUDO DE PROJETO</a:t>
            </a:r>
            <a:endParaRPr lang="en-US" sz="1125" dirty="0"/>
          </a:p>
        </p:txBody>
      </p:sp>
      <p:sp>
        <p:nvSpPr>
          <p:cNvPr id="7" name="Text 4"/>
          <p:cNvSpPr/>
          <p:nvPr/>
        </p:nvSpPr>
        <p:spPr>
          <a:xfrm>
            <a:off x="10668000" y="6353175"/>
            <a:ext cx="9144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05 / 05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09600" y="1304925"/>
            <a:ext cx="9667875" cy="1685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950" b="1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Próximo passo</a:t>
            </a:r>
            <a:endParaRPr lang="en-US" sz="4950" dirty="0"/>
          </a:p>
          <a:p>
            <a:pPr algn="l" indent="0" marL="0">
              <a:buNone/>
            </a:pPr>
            <a:r>
              <a:rPr lang="en-US" sz="4950" b="1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 projeto</a:t>
            </a:r>
            <a:endParaRPr lang="en-US" sz="4950" dirty="0"/>
          </a:p>
        </p:txBody>
      </p:sp>
      <p:sp>
        <p:nvSpPr>
          <p:cNvPr id="9" name="Text 6"/>
          <p:cNvSpPr/>
          <p:nvPr/>
        </p:nvSpPr>
        <p:spPr>
          <a:xfrm>
            <a:off x="628650" y="3352800"/>
            <a:ext cx="1066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9BAAC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Uma proposta clara pode ser discutida, testada e melhorada.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609600" y="4352925"/>
            <a:ext cx="10972800" cy="19050"/>
          </a:xfrm>
          <a:prstGeom prst="rect">
            <a:avLst/>
          </a:prstGeom>
          <a:solidFill>
            <a:srgbClr val="273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9600" y="4705350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0D4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  /  DELIMITAR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09600" y="5162550"/>
            <a:ext cx="33337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75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Escolher o lugar</a:t>
            </a:r>
            <a:endParaRPr lang="en-US" sz="1875" dirty="0"/>
          </a:p>
          <a:p>
            <a:pPr algn="l" indent="0" marL="0">
              <a:buNone/>
            </a:pPr>
            <a:r>
              <a:rPr lang="en-US" sz="1875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explicitar o objetivo.</a:t>
            </a:r>
            <a:endParaRPr lang="en-US" sz="1875" dirty="0"/>
          </a:p>
        </p:txBody>
      </p:sp>
      <p:sp>
        <p:nvSpPr>
          <p:cNvPr id="13" name="Text 10"/>
          <p:cNvSpPr/>
          <p:nvPr/>
        </p:nvSpPr>
        <p:spPr>
          <a:xfrm>
            <a:off x="4286250" y="4705350"/>
            <a:ext cx="3333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0D4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  /  FUNDAMENTAR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286250" y="5162550"/>
            <a:ext cx="33337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75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Ler as referências</a:t>
            </a:r>
            <a:endParaRPr lang="en-US" sz="1875" dirty="0"/>
          </a:p>
          <a:p>
            <a:pPr algn="l" indent="0" marL="0">
              <a:buNone/>
            </a:pPr>
            <a:r>
              <a:rPr lang="en-US" sz="1875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registrar as fontes.</a:t>
            </a:r>
            <a:endParaRPr lang="en-US" sz="1875" dirty="0"/>
          </a:p>
        </p:txBody>
      </p:sp>
      <p:sp>
        <p:nvSpPr>
          <p:cNvPr id="15" name="Text 12"/>
          <p:cNvSpPr/>
          <p:nvPr/>
        </p:nvSpPr>
        <p:spPr>
          <a:xfrm>
            <a:off x="7962900" y="4705350"/>
            <a:ext cx="3619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0D4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  /  COMPARTILHAR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962900" y="5162550"/>
            <a:ext cx="361950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75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Desenhar o primeiro recorte</a:t>
            </a:r>
            <a:endParaRPr lang="en-US" sz="1875" dirty="0"/>
          </a:p>
          <a:p>
            <a:pPr algn="l" indent="0" marL="0">
              <a:buNone/>
            </a:pPr>
            <a:r>
              <a:rPr lang="en-US" sz="1875" dirty="0">
                <a:solidFill>
                  <a:srgbClr val="E8EDF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abrir espaço para revisão.</a:t>
            </a:r>
            <a:endParaRPr lang="en-US" sz="187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Helvetic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Jardins urbanos — da pesquisa ao cuidado</dc:title>
  <dc:subject>Presentation Studio · revision 5</dc:subject>
  <dc:creator>MLX Pilot</dc:creator>
  <cp:lastModifiedBy>MLX Pilot</cp:lastModifiedBy>
  <cp:revision>1</cp:revision>
  <dcterms:created xsi:type="dcterms:W3CDTF">2026-10-19T00:49:04Z</dcterms:created>
  <dcterms:modified xsi:type="dcterms:W3CDTF">2026-10-19T00:49:04Z</dcterms:modified>
</cp:coreProperties>
</file>