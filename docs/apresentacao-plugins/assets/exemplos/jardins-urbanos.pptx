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de abertura focado na introdução. O objetivo é captar a atenção do público (cidadãos e gestores) apresentando o tema central: a conexão entre natureza, comunidade e sustentabilidade urbana.
Contexto:
- A apresentação visa mostrar benefícios tangíveis da implementação de jardins urbanos.
- Público-alvo busca entender impactos positivos em ambientes urbanos densos.
Assumptions:
- O público já reconhece desafios como poluição e calor urbano, mas precisa ver soluções práticas.
- Jardins não são apenas estéticos; funcionam como infraestrutura verde essencial.
Direção de Arte (Hero):
- Fundo: #f7f4ed (cor neutra quente).
- Tipografia Georgia para elegância editorial.
- Imagem sugerida (se disponível no futuro): Foto de alta resolução mostrando um jardim vertical ou pequeno parque em meio a edifícios, com iluminação natural suave. Sem imagem agora, o layout depende da tipografia e do espaço negativo.
Estrutura:
- Título grande: "Jardins Urbanos: Natureza no Asfalto" (max 90 caracteres).
- Subtítulo opcional pode ser omitido para manter impacto visual; se necessário, usar corpo de texto curto com insight sobre transformação urbana.
- Takeaway claro e direto na parte inferior ou lateral direita.
Motion:
- Entrada suave do título e subtítulo (se aplicável em HTML), mas como PDF/PPTX estático, apenas composição tipográfica equilibrada.
Próximos passos:
- Slide 2: Cards com benefícios-chave.
- Slide 3: Conclusão com chamada à ação sutil.
Premissas de criação: O público busca entender como pequenos espaços verdes impactam positivamente o ambiente urbano.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Esta slide foca em três pilares de impacto direto: purificação do ar, regulação térmica e bem-estar psicológico. Cada item representa uma função ecológica distinta que justifica o investimento público e privado.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Este slide finaliza a narrativa sobre o poder regenerativo dos jardins urbanos. O objetivo é convencer gestores públicos e cidadãos de que pequenas intervenções verdes têm impactos macroscópicos na qualidade do ar, redução da temperatura ambiente (ilhas de calor) e bem-estar mental da população. A mensagem central deve ser clara: não se trata apenas de plantar árvores, mas de integrar a natureza à infraestrutura urbana como uma necessidade vital para cidades sustentáveis.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7F4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609600" y="942975"/>
            <a:ext cx="838200" cy="38100"/>
          </a:xfrm>
          <a:prstGeom prst="rect">
            <a:avLst/>
          </a:prstGeom>
          <a:solidFill>
            <a:srgbClr val="D65636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609600" y="609600"/>
            <a:ext cx="99060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64707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NATUREZA NO ASFALTO</a:t>
            </a:r>
            <a:endParaRPr lang="en-US" sz="1500" dirty="0"/>
          </a:p>
        </p:txBody>
      </p:sp>
      <p:sp>
        <p:nvSpPr>
          <p:cNvPr id="5" name="Text 2"/>
          <p:cNvSpPr/>
          <p:nvPr/>
        </p:nvSpPr>
        <p:spPr>
          <a:xfrm>
            <a:off x="609600" y="1371600"/>
            <a:ext cx="1097280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100" b="1" dirty="0">
                <a:solidFill>
                  <a:srgbClr val="26313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Jardins urbanos:</a:t>
            </a:r>
            <a:endParaRPr lang="en-US" sz="5100" dirty="0"/>
          </a:p>
          <a:p>
            <a:pPr algn="l" indent="0" marL="0">
              <a:buNone/>
            </a:pPr>
            <a:r>
              <a:rPr lang="en-US" sz="5100" b="1" dirty="0">
                <a:solidFill>
                  <a:srgbClr val="26313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ideias para nossa cidade</a:t>
            </a:r>
            <a:endParaRPr lang="en-US" sz="5100" dirty="0"/>
          </a:p>
        </p:txBody>
      </p:sp>
      <p:sp>
        <p:nvSpPr>
          <p:cNvPr id="6" name="Text 3"/>
          <p:cNvSpPr/>
          <p:nvPr/>
        </p:nvSpPr>
        <p:spPr>
          <a:xfrm>
            <a:off x="609600" y="3295650"/>
            <a:ext cx="7162800" cy="15049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50" dirty="0">
                <a:solidFill>
                  <a:srgbClr val="26313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Pequenos espaços verdes transformam cidades,</a:t>
            </a:r>
            <a:endParaRPr lang="en-US" sz="2250" dirty="0"/>
          </a:p>
          <a:p>
            <a:pPr algn="l" indent="0" marL="0">
              <a:buNone/>
            </a:pPr>
            <a:r>
              <a:rPr lang="en-US" sz="2250" dirty="0">
                <a:solidFill>
                  <a:srgbClr val="26313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melhorando a qualidade de vida e conectando</a:t>
            </a:r>
            <a:endParaRPr lang="en-US" sz="2250" dirty="0"/>
          </a:p>
          <a:p>
            <a:pPr algn="l" indent="0" marL="0">
              <a:buNone/>
            </a:pPr>
            <a:r>
              <a:rPr lang="en-US" sz="2250" dirty="0">
                <a:solidFill>
                  <a:srgbClr val="26313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comunidades ao ambiente natural.</a:t>
            </a:r>
            <a:endParaRPr lang="en-US" sz="2250" dirty="0"/>
          </a:p>
        </p:txBody>
      </p:sp>
      <p:sp>
        <p:nvSpPr>
          <p:cNvPr id="7" name="Shape 4"/>
          <p:cNvSpPr/>
          <p:nvPr/>
        </p:nvSpPr>
        <p:spPr>
          <a:xfrm>
            <a:off x="8820150" y="3143250"/>
            <a:ext cx="2514600" cy="2019300"/>
          </a:xfrm>
          <a:prstGeom prst="rect">
            <a:avLst/>
          </a:prstGeom>
          <a:solidFill>
            <a:srgbClr val="E9E7E1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9220200" y="3371850"/>
            <a:ext cx="1714500" cy="1524000"/>
          </a:xfrm>
          <a:prstGeom prst="rect">
            <a:avLst/>
          </a:prstGeom>
          <a:solidFill>
            <a:srgbClr val="D65636">
              <a:alpha val="82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8877300" y="4591050"/>
            <a:ext cx="2286000" cy="323850"/>
          </a:xfrm>
          <a:prstGeom prst="rect">
            <a:avLst/>
          </a:prstGeom>
          <a:solidFill>
            <a:srgbClr val="F7F4ED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10991850" y="3733800"/>
            <a:ext cx="19050" cy="1466850"/>
          </a:xfrm>
          <a:prstGeom prst="rect">
            <a:avLst/>
          </a:prstGeom>
          <a:solidFill>
            <a:srgbClr val="263138">
              <a:alpha val="50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09600" y="5124450"/>
            <a:ext cx="716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D6563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Pequenos espaços verdes transformam cidades em</a:t>
            </a:r>
            <a:endParaRPr lang="en-US" sz="1950" dirty="0"/>
          </a:p>
          <a:p>
            <a:pPr algn="l" indent="0" marL="0">
              <a:buNone/>
            </a:pPr>
            <a:r>
              <a:rPr lang="en-US" sz="1950" b="1" dirty="0">
                <a:solidFill>
                  <a:srgbClr val="D6563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lugares mais saudáveis e conectados.</a:t>
            </a:r>
            <a:endParaRPr lang="en-US" sz="1950" dirty="0"/>
          </a:p>
        </p:txBody>
      </p:sp>
      <p:sp>
        <p:nvSpPr>
          <p:cNvPr id="12" name="Shape 9"/>
          <p:cNvSpPr/>
          <p:nvPr/>
        </p:nvSpPr>
        <p:spPr>
          <a:xfrm>
            <a:off x="609600" y="5905500"/>
            <a:ext cx="10972800" cy="9525"/>
          </a:xfrm>
          <a:prstGeom prst="rect">
            <a:avLst/>
          </a:prstGeom>
          <a:solidFill>
            <a:srgbClr val="C1C1BE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10248900" y="6000750"/>
            <a:ext cx="133350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50" dirty="0">
                <a:solidFill>
                  <a:srgbClr val="64707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 / 03</a:t>
            </a:r>
            <a:endParaRPr lang="en-US" sz="13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4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609600" y="942975"/>
            <a:ext cx="838200" cy="38100"/>
          </a:xfrm>
          <a:prstGeom prst="rect">
            <a:avLst/>
          </a:prstGeom>
          <a:solidFill>
            <a:srgbClr val="D65636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609600" y="609600"/>
            <a:ext cx="99060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64707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Benefícios Tangíveis</a:t>
            </a:r>
            <a:endParaRPr lang="en-US" sz="1500" dirty="0"/>
          </a:p>
        </p:txBody>
      </p:sp>
      <p:sp>
        <p:nvSpPr>
          <p:cNvPr id="5" name="Text 2"/>
          <p:cNvSpPr/>
          <p:nvPr/>
        </p:nvSpPr>
        <p:spPr>
          <a:xfrm>
            <a:off x="609600" y="1066800"/>
            <a:ext cx="10972800" cy="1333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200" b="1" dirty="0">
                <a:solidFill>
                  <a:srgbClr val="26313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Como os jardins regeneram</a:t>
            </a:r>
            <a:endParaRPr lang="en-US" sz="4200" dirty="0"/>
          </a:p>
          <a:p>
            <a:pPr algn="l" indent="0" marL="0">
              <a:buNone/>
            </a:pPr>
            <a:r>
              <a:rPr lang="en-US" sz="4200" b="1" dirty="0">
                <a:solidFill>
                  <a:srgbClr val="26313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 entorno urbano.</a:t>
            </a:r>
            <a:endParaRPr lang="en-US" sz="4200" dirty="0"/>
          </a:p>
        </p:txBody>
      </p:sp>
      <p:sp>
        <p:nvSpPr>
          <p:cNvPr id="6" name="Text 3"/>
          <p:cNvSpPr/>
          <p:nvPr/>
        </p:nvSpPr>
        <p:spPr>
          <a:xfrm>
            <a:off x="609600" y="2438400"/>
            <a:ext cx="10972800" cy="628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50" dirty="0">
                <a:solidFill>
                  <a:srgbClr val="26313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Benefícios-chave: filtragem de poluentes, redução do calor extremo e alívio para a</a:t>
            </a:r>
            <a:endParaRPr lang="en-US" sz="1950" dirty="0"/>
          </a:p>
          <a:p>
            <a:pPr algn="l" indent="0" marL="0">
              <a:buNone/>
            </a:pPr>
            <a:r>
              <a:rPr lang="en-US" sz="1950" dirty="0">
                <a:solidFill>
                  <a:srgbClr val="26313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saúde mental através da vegetação acessível.</a:t>
            </a:r>
            <a:endParaRPr lang="en-US" sz="1950" dirty="0"/>
          </a:p>
        </p:txBody>
      </p:sp>
      <p:sp>
        <p:nvSpPr>
          <p:cNvPr id="7" name="Shape 4"/>
          <p:cNvSpPr/>
          <p:nvPr/>
        </p:nvSpPr>
        <p:spPr>
          <a:xfrm>
            <a:off x="609600" y="3276600"/>
            <a:ext cx="3505200" cy="2324100"/>
          </a:xfrm>
          <a:prstGeom prst="roundRect">
            <a:avLst/>
          </a:prstGeom>
          <a:solidFill>
            <a:srgbClr val="E9E7E1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838200" y="3429000"/>
            <a:ext cx="342900" cy="28575"/>
          </a:xfrm>
          <a:prstGeom prst="rect">
            <a:avLst/>
          </a:prstGeom>
          <a:solidFill>
            <a:srgbClr val="D65636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838200" y="3505200"/>
            <a:ext cx="3048000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26313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Qualidade do Ar</a:t>
            </a:r>
            <a:endParaRPr lang="en-US" sz="2100" dirty="0"/>
          </a:p>
        </p:txBody>
      </p:sp>
      <p:sp>
        <p:nvSpPr>
          <p:cNvPr id="10" name="Text 7"/>
          <p:cNvSpPr/>
          <p:nvPr/>
        </p:nvSpPr>
        <p:spPr>
          <a:xfrm>
            <a:off x="838200" y="3991356"/>
            <a:ext cx="3048000" cy="13997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50" dirty="0">
                <a:solidFill>
                  <a:srgbClr val="64707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vegetação filtra</a:t>
            </a:r>
            <a:endParaRPr lang="en-US" sz="1950" dirty="0"/>
          </a:p>
          <a:p>
            <a:pPr algn="l" indent="0" marL="0">
              <a:buNone/>
            </a:pPr>
            <a:r>
              <a:rPr lang="en-US" sz="1950" dirty="0">
                <a:solidFill>
                  <a:srgbClr val="64707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poluentes e libera</a:t>
            </a:r>
            <a:endParaRPr lang="en-US" sz="1950" dirty="0"/>
          </a:p>
          <a:p>
            <a:pPr algn="l" indent="0" marL="0">
              <a:buNone/>
            </a:pPr>
            <a:r>
              <a:rPr lang="en-US" sz="1950" dirty="0">
                <a:solidFill>
                  <a:srgbClr val="64707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oxigênio.</a:t>
            </a:r>
            <a:endParaRPr lang="en-US" sz="1950" dirty="0"/>
          </a:p>
        </p:txBody>
      </p:sp>
      <p:sp>
        <p:nvSpPr>
          <p:cNvPr id="11" name="Shape 8"/>
          <p:cNvSpPr/>
          <p:nvPr/>
        </p:nvSpPr>
        <p:spPr>
          <a:xfrm>
            <a:off x="4343400" y="3276600"/>
            <a:ext cx="3505200" cy="2324100"/>
          </a:xfrm>
          <a:prstGeom prst="roundRect">
            <a:avLst/>
          </a:prstGeom>
          <a:solidFill>
            <a:srgbClr val="E9E7E1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4572000" y="3429000"/>
            <a:ext cx="342900" cy="28575"/>
          </a:xfrm>
          <a:prstGeom prst="rect">
            <a:avLst/>
          </a:prstGeom>
          <a:solidFill>
            <a:srgbClr val="D65636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4572000" y="3505200"/>
            <a:ext cx="3048000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26313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Temperatura Urbana</a:t>
            </a:r>
            <a:endParaRPr lang="en-US" sz="2100" dirty="0"/>
          </a:p>
        </p:txBody>
      </p:sp>
      <p:sp>
        <p:nvSpPr>
          <p:cNvPr id="14" name="Text 11"/>
          <p:cNvSpPr/>
          <p:nvPr/>
        </p:nvSpPr>
        <p:spPr>
          <a:xfrm>
            <a:off x="4572000" y="3991356"/>
            <a:ext cx="3048000" cy="13997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50" dirty="0">
                <a:solidFill>
                  <a:srgbClr val="64707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Áreas verdes reduzem</a:t>
            </a:r>
            <a:endParaRPr lang="en-US" sz="1950" dirty="0"/>
          </a:p>
          <a:p>
            <a:pPr algn="l" indent="0" marL="0">
              <a:buNone/>
            </a:pPr>
            <a:r>
              <a:rPr lang="en-US" sz="1950" dirty="0">
                <a:solidFill>
                  <a:srgbClr val="64707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 efeito de ilhas de</a:t>
            </a:r>
            <a:endParaRPr lang="en-US" sz="1950" dirty="0"/>
          </a:p>
          <a:p>
            <a:pPr algn="l" indent="0" marL="0">
              <a:buNone/>
            </a:pPr>
            <a:r>
              <a:rPr lang="en-US" sz="1950" dirty="0">
                <a:solidFill>
                  <a:srgbClr val="64707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calor.</a:t>
            </a:r>
            <a:endParaRPr lang="en-US" sz="1950" dirty="0"/>
          </a:p>
        </p:txBody>
      </p:sp>
      <p:sp>
        <p:nvSpPr>
          <p:cNvPr id="15" name="Shape 12"/>
          <p:cNvSpPr/>
          <p:nvPr/>
        </p:nvSpPr>
        <p:spPr>
          <a:xfrm>
            <a:off x="8077200" y="3276600"/>
            <a:ext cx="3505200" cy="2324100"/>
          </a:xfrm>
          <a:prstGeom prst="roundRect">
            <a:avLst/>
          </a:prstGeom>
          <a:solidFill>
            <a:srgbClr val="E9E7E1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8305800" y="3429000"/>
            <a:ext cx="342900" cy="28575"/>
          </a:xfrm>
          <a:prstGeom prst="rect">
            <a:avLst/>
          </a:prstGeom>
          <a:solidFill>
            <a:srgbClr val="D65636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8305800" y="3505200"/>
            <a:ext cx="3048000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26313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Saúde Mental</a:t>
            </a:r>
            <a:endParaRPr lang="en-US" sz="2100" dirty="0"/>
          </a:p>
        </p:txBody>
      </p:sp>
      <p:sp>
        <p:nvSpPr>
          <p:cNvPr id="18" name="Text 15"/>
          <p:cNvSpPr/>
          <p:nvPr/>
        </p:nvSpPr>
        <p:spPr>
          <a:xfrm>
            <a:off x="8305800" y="3991356"/>
            <a:ext cx="3048000" cy="13997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50" dirty="0">
                <a:solidFill>
                  <a:srgbClr val="64707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 contato com a</a:t>
            </a:r>
            <a:endParaRPr lang="en-US" sz="1950" dirty="0"/>
          </a:p>
          <a:p>
            <a:pPr algn="l" indent="0" marL="0">
              <a:buNone/>
            </a:pPr>
            <a:r>
              <a:rPr lang="en-US" sz="1950" dirty="0">
                <a:solidFill>
                  <a:srgbClr val="64707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natureza diminui o</a:t>
            </a:r>
            <a:endParaRPr lang="en-US" sz="1950" dirty="0"/>
          </a:p>
          <a:p>
            <a:pPr algn="l" indent="0" marL="0">
              <a:buNone/>
            </a:pPr>
            <a:r>
              <a:rPr lang="en-US" sz="1950" dirty="0">
                <a:solidFill>
                  <a:srgbClr val="64707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estresse diário.</a:t>
            </a:r>
            <a:endParaRPr lang="en-US" sz="1950" dirty="0"/>
          </a:p>
        </p:txBody>
      </p:sp>
      <p:sp>
        <p:nvSpPr>
          <p:cNvPr id="19" name="Shape 16"/>
          <p:cNvSpPr/>
          <p:nvPr/>
        </p:nvSpPr>
        <p:spPr>
          <a:xfrm>
            <a:off x="609600" y="5905500"/>
            <a:ext cx="10972800" cy="9525"/>
          </a:xfrm>
          <a:prstGeom prst="rect">
            <a:avLst/>
          </a:prstGeom>
          <a:solidFill>
            <a:srgbClr val="C1C1BE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10248900" y="6000750"/>
            <a:ext cx="133350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50" dirty="0">
                <a:solidFill>
                  <a:srgbClr val="64707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 / 03</a:t>
            </a:r>
            <a:endParaRPr lang="en-US" sz="13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4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609600" y="942975"/>
            <a:ext cx="838200" cy="38100"/>
          </a:xfrm>
          <a:prstGeom prst="rect">
            <a:avLst/>
          </a:prstGeom>
          <a:solidFill>
            <a:srgbClr val="D65636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609600" y="609600"/>
            <a:ext cx="99060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64707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CONCLUSÃO ESTRATÉGICA</a:t>
            </a:r>
            <a:endParaRPr lang="en-US" sz="1500" dirty="0"/>
          </a:p>
        </p:txBody>
      </p:sp>
      <p:sp>
        <p:nvSpPr>
          <p:cNvPr id="5" name="Text 2"/>
          <p:cNvSpPr/>
          <p:nvPr/>
        </p:nvSpPr>
        <p:spPr>
          <a:xfrm>
            <a:off x="609600" y="1485900"/>
            <a:ext cx="10972800" cy="152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800" b="1" dirty="0">
                <a:solidFill>
                  <a:srgbClr val="26313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Adote jardins como</a:t>
            </a:r>
            <a:endParaRPr lang="en-US" sz="4800" dirty="0"/>
          </a:p>
          <a:p>
            <a:pPr algn="l" indent="0" marL="0">
              <a:buNone/>
            </a:pPr>
            <a:r>
              <a:rPr lang="en-US" sz="4800" b="1" dirty="0">
                <a:solidFill>
                  <a:srgbClr val="26313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infraestrutura de resiliência.</a:t>
            </a:r>
            <a:endParaRPr lang="en-US" sz="4800" dirty="0"/>
          </a:p>
        </p:txBody>
      </p:sp>
      <p:sp>
        <p:nvSpPr>
          <p:cNvPr id="6" name="Text 3"/>
          <p:cNvSpPr/>
          <p:nvPr/>
        </p:nvSpPr>
        <p:spPr>
          <a:xfrm>
            <a:off x="609600" y="3257550"/>
            <a:ext cx="9067800" cy="1219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50" dirty="0">
                <a:solidFill>
                  <a:srgbClr val="26313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Áreas verdes são investimento direto na saúde pública e</a:t>
            </a:r>
            <a:endParaRPr lang="en-US" sz="2250" dirty="0"/>
          </a:p>
          <a:p>
            <a:pPr algn="l" indent="0" marL="0">
              <a:buNone/>
            </a:pPr>
            <a:r>
              <a:rPr lang="en-US" sz="2250" dirty="0">
                <a:solidFill>
                  <a:srgbClr val="26313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equilíbrio térmico; transforme espaços ociosos em ativos</a:t>
            </a:r>
            <a:endParaRPr lang="en-US" sz="2250" dirty="0"/>
          </a:p>
          <a:p>
            <a:pPr algn="l" indent="0" marL="0">
              <a:buNone/>
            </a:pPr>
            <a:r>
              <a:rPr lang="en-US" sz="2250" dirty="0">
                <a:solidFill>
                  <a:srgbClr val="26313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para comunidades mais habitáveis.</a:t>
            </a:r>
            <a:endParaRPr lang="en-US" sz="2250" dirty="0"/>
          </a:p>
        </p:txBody>
      </p:sp>
      <p:sp>
        <p:nvSpPr>
          <p:cNvPr id="7" name="Shape 4"/>
          <p:cNvSpPr/>
          <p:nvPr/>
        </p:nvSpPr>
        <p:spPr>
          <a:xfrm>
            <a:off x="609600" y="4762500"/>
            <a:ext cx="10972800" cy="742950"/>
          </a:xfrm>
          <a:prstGeom prst="roundRect">
            <a:avLst/>
          </a:prstGeom>
          <a:solidFill>
            <a:srgbClr val="D65636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00100" y="4857750"/>
            <a:ext cx="105918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018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Transforme espaços ociosos em ativos comunitários para aumentar a habitabilidade</a:t>
            </a:r>
            <a:endParaRPr lang="en-US" sz="1800" dirty="0"/>
          </a:p>
          <a:p>
            <a:pPr algn="l" indent="0" marL="0">
              <a:buNone/>
            </a:pPr>
            <a:r>
              <a:rPr lang="en-US" sz="1800" b="1" dirty="0">
                <a:solidFill>
                  <a:srgbClr val="1018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local.</a:t>
            </a:r>
            <a:endParaRPr lang="en-US" sz="1800" dirty="0"/>
          </a:p>
        </p:txBody>
      </p:sp>
      <p:sp>
        <p:nvSpPr>
          <p:cNvPr id="9" name="Shape 6"/>
          <p:cNvSpPr/>
          <p:nvPr/>
        </p:nvSpPr>
        <p:spPr>
          <a:xfrm>
            <a:off x="609600" y="5905500"/>
            <a:ext cx="10972800" cy="9525"/>
          </a:xfrm>
          <a:prstGeom prst="rect">
            <a:avLst/>
          </a:prstGeom>
          <a:solidFill>
            <a:srgbClr val="C1C1BE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10248900" y="6000750"/>
            <a:ext cx="133350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50" dirty="0">
                <a:solidFill>
                  <a:srgbClr val="64707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 / 03</a:t>
            </a:r>
            <a:endParaRPr lang="en-US" sz="13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Georg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Georgia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Jardins urbanos · demonstração</dc:title>
  <dc:subject>Presentation Studio · revision 2</dc:subject>
  <dc:creator>MLX Pilot</dc:creator>
  <cp:lastModifiedBy>MLX Pilot</cp:lastModifiedBy>
  <cp:revision>1</cp:revision>
  <dcterms:created xsi:type="dcterms:W3CDTF">2026-10-18T21:23:27Z</dcterms:created>
  <dcterms:modified xsi:type="dcterms:W3CDTF">2026-10-18T21:23:27Z</dcterms:modified>
</cp:coreProperties>
</file>